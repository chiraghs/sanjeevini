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59669"/>
                </a:solidFill>
              </a:defRPr>
            </a:pPr>
            <a:r>
              <a:t>SMART HEALTH &amp; SUPPLY CHAIN RESILIENCE  •  THEME: RESILIENCE</a:t>
            </a:r>
          </a:p>
          <a:p>
            <a:pPr>
              <a:spcAft>
                <a:spcPts val="800"/>
              </a:spcAft>
              <a:defRPr sz="3800" b="1">
                <a:solidFill>
                  <a:srgbClr val="0F172A"/>
                </a:solidFill>
              </a:defRPr>
            </a:pPr>
            <a:r>
              <a:t>संजीविनी (Sanjeevini)</a:t>
            </a:r>
          </a:p>
          <a:p>
            <a:pPr>
              <a:spcAft>
                <a:spcPts val="2200"/>
              </a:spcAft>
              <a:defRPr sz="2000" b="1">
                <a:solidFill>
                  <a:srgbClr val="1E40AF"/>
                </a:solidFill>
              </a:defRPr>
            </a:pPr>
            <a:r>
              <a:t>Federated AI Platform for National Health Resource &amp; Medicine Supply Chain Management</a:t>
            </a:r>
          </a:p>
          <a:p>
            <a:pPr>
              <a:spcAft>
                <a:spcPts val="3600"/>
              </a:spcAft>
              <a:defRPr sz="1300">
                <a:solidFill>
                  <a:srgbClr val="0F172A"/>
                </a:solidFill>
              </a:defRPr>
            </a:pPr>
            <a:r>
              <a:t>Real-time visibility across 31,000+ PHCs • Predictive early warnings for emergency stock-outs • Automated cross-district redistribution • Privacy-preserving federated intelligence across India's states</a:t>
            </a:r>
          </a:p>
          <a:p>
            <a:pPr>
              <a:spcAft>
                <a:spcPts val="800"/>
              </a:spcAft>
              <a:defRPr sz="1000" b="1">
                <a:solidFill>
                  <a:srgbClr val="64748B"/>
                </a:solidFill>
              </a:defRPr>
            </a:pPr>
            <a:r>
              <a:t>ARCHITECTURE &amp; GOOGLE AI INTEGRATIONS: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t>• Google Cloud Run Scalable Ingestion  |  • Gemini 1.5 Flash Reasoning Engine  |  • CARTO GIS Surveillance  |  • Indic Voice AI (22 Indian Languages)  |  • Sovereign FedAvg Model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संजीविनी (Sanjeevini) | National Health Resource &amp; Supply Chain Resilience Platform   • 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</a:defRPr>
            </a:pPr>
            <a:r>
              <a:t>THE CHALLENGE &amp; PROBLEM STATEMENT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Healthcare Supply Chain Emergency Across India's PHCs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3756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200">
                <a:solidFill>
                  <a:srgbClr val="DC2626"/>
                </a:solidFill>
              </a:defRPr>
            </a:pPr>
            <a:r>
              <a:t>42% RECURRENT STOCKOUTS</a:t>
            </a:r>
          </a:p>
          <a:p>
            <a:pPr>
              <a:spcAft>
                <a:spcPts val="1000"/>
              </a:spcAft>
              <a:defRPr b="1" sz="1600">
                <a:solidFill>
                  <a:srgbClr val="0F172A"/>
                </a:solidFill>
              </a:defRPr>
            </a:pPr>
            <a:r>
              <a:t>Chronic Medicine Invisibility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Crucial supplies (Paracetamol, ORS, Anti-Snake Venom, Oxytocin) run out during acute outbreaks with zero automated warning.</a:t>
            </a:r>
            <a:br/>
            <a:br/>
            <a:r>
              <a:t>• The Paradox: Excess inventory frequently expires in district warehouses just 40km away while rural sub-centres turn away critically ill patients.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63040"/>
            <a:ext cx="33375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6459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200">
                <a:solidFill>
                  <a:srgbClr val="D97706"/>
                </a:solidFill>
              </a:defRPr>
            </a:pPr>
            <a:r>
              <a:t>12 - 24 HOUR REPORTING LAG</a:t>
            </a:r>
          </a:p>
          <a:p>
            <a:pPr>
              <a:spcAft>
                <a:spcPts val="1000"/>
              </a:spcAft>
              <a:defRPr b="1" sz="1600">
                <a:solidFill>
                  <a:srgbClr val="0F172A"/>
                </a:solidFill>
              </a:defRPr>
            </a:pPr>
            <a:r>
              <a:t>Manual Registers &amp; Blindspots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Frontline ASHA and ANM cadres lose 2 to 3 hours every day manually handwriting physical registers.</a:t>
            </a:r>
            <a:br/>
            <a:br/>
            <a:r>
              <a:t>• Legacy batch portals update only once a day; catastrophic surge signals during monsoons and epidemics remain hidden until stockpiles are completely exhausted.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63040"/>
            <a:ext cx="33375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64592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200">
                <a:solidFill>
                  <a:srgbClr val="1E40AF"/>
                </a:solidFill>
              </a:defRPr>
            </a:pPr>
            <a:r>
              <a:t>DATA SOVEREIGNTY BARRIERS</a:t>
            </a:r>
          </a:p>
          <a:p>
            <a:pPr>
              <a:spcAft>
                <a:spcPts val="1000"/>
              </a:spcAft>
              <a:defRPr b="1" sz="1600">
                <a:solidFill>
                  <a:srgbClr val="0F172A"/>
                </a:solidFill>
              </a:defRPr>
            </a:pPr>
            <a:r>
              <a:t>Interstate Data Silos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Under India's Digital Personal Data Protection (DPDP) Act 2023, patient health records cannot be moved into a monolithic central repository.</a:t>
            </a:r>
            <a:br/>
            <a:br/>
            <a:r>
              <a:t>• As a result, states cannot share predictive epidemiology or coordinate cross-border mutual aid without risking privacy violations.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संजीविनी (Sanjeevini) | National Health Resource &amp; Supply Chain Resilience Platform   • 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</a:defRPr>
            </a:pPr>
            <a:r>
              <a:t>HOLISTIC PLATFORM ARCHITECTURE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Sanjeevini Ecosystem: 4 Pillars of Health Resilience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468880" cy="4389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64592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000">
                <a:solidFill>
                  <a:srgbClr val="059669"/>
                </a:solidFill>
              </a:defRPr>
            </a:pPr>
            <a:r>
              <a:t>1. GROUND CAPTURE</a:t>
            </a:r>
          </a:p>
          <a:p>
            <a:pPr>
              <a:spcAft>
                <a:spcPts val="1000"/>
              </a:spcAft>
              <a:defRPr b="1" sz="1400">
                <a:solidFill>
                  <a:srgbClr val="0F172A"/>
                </a:solidFill>
              </a:defRPr>
            </a:pPr>
            <a:r>
              <a:t>Multimodal Ingestion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Indic Voice AI (22 scheduled Indian languages) for hands-free ASHA updates.</a:t>
            </a:r>
            <a:br/>
            <a:br/>
            <a:r>
              <a:t>• Gemini Vision OCR scans physical stock ledgers &amp; medicine blister packs with 98.7% accuracy.</a:t>
            </a:r>
            <a:br/>
            <a:br/>
            <a:r>
              <a:t>• Zero-paperwork field entry.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463040"/>
            <a:ext cx="246888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21024" y="164592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000">
                <a:solidFill>
                  <a:srgbClr val="1E40AF"/>
                </a:solidFill>
              </a:defRPr>
            </a:pPr>
            <a:r>
              <a:t>2. GIS SURVEILLANCE</a:t>
            </a:r>
          </a:p>
          <a:p>
            <a:pPr>
              <a:spcAft>
                <a:spcPts val="1000"/>
              </a:spcAft>
              <a:defRPr b="1" sz="1400">
                <a:solidFill>
                  <a:srgbClr val="0F172A"/>
                </a:solidFill>
              </a:defRPr>
            </a:pPr>
            <a:r>
              <a:t>Real-Time Resource Map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Live tracking across 31,000+ PHCs.</a:t>
            </a:r>
            <a:br/>
            <a:br/>
            <a:r>
              <a:t>• CARTO Positron + OSM + Google Maps dual engine.</a:t>
            </a:r>
            <a:br/>
            <a:br/>
            <a:r>
              <a:t>• Dynamic buffer thresholds:</a:t>
            </a:r>
            <a:br/>
            <a:r>
              <a:t>  🟢 Stable (&gt;7 Days)</a:t>
            </a:r>
            <a:br/>
            <a:r>
              <a:t>  🟡 Warning (4-7 Days)</a:t>
            </a:r>
            <a:br/>
            <a:r>
              <a:t>  🔴 Critical Deficit (≤3 Days).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46304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5936" y="164592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000">
                <a:solidFill>
                  <a:srgbClr val="D97706"/>
                </a:solidFill>
              </a:defRPr>
            </a:pPr>
            <a:r>
              <a:t>3. PREDICTIVE LOGISTICS</a:t>
            </a:r>
          </a:p>
          <a:p>
            <a:pPr>
              <a:spcAft>
                <a:spcPts val="1000"/>
              </a:spcAft>
              <a:defRPr b="1" sz="1400">
                <a:solidFill>
                  <a:srgbClr val="0F172A"/>
                </a:solidFill>
              </a:defRPr>
            </a:pPr>
            <a:r>
              <a:t>Cross-District Balancing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ML models forecast disease surges 7 days prior to stockout.</a:t>
            </a:r>
            <a:br/>
            <a:br/>
            <a:r>
              <a:t>• Automated algorithm matches donor clinics (&gt;14d stock) to deficit clinics (≤3d stock).</a:t>
            </a:r>
            <a:br/>
            <a:br/>
            <a:r>
              <a:t>• Generates turnkey dispatch manifests with route optimization.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46304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0848" y="1645920"/>
            <a:ext cx="21396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000">
                <a:solidFill>
                  <a:srgbClr val="1E40AF"/>
                </a:solidFill>
              </a:defRPr>
            </a:pPr>
            <a:r>
              <a:t>4. FEDERATED AI</a:t>
            </a:r>
          </a:p>
          <a:p>
            <a:pPr>
              <a:spcAft>
                <a:spcPts val="1000"/>
              </a:spcAft>
              <a:defRPr b="1" sz="1400">
                <a:solidFill>
                  <a:srgbClr val="0F172A"/>
                </a:solidFill>
              </a:defRPr>
            </a:pPr>
            <a:r>
              <a:t>Sovereign Learning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State health servers train local predictive models in-place.</a:t>
            </a:r>
            <a:br/>
            <a:br/>
            <a:r>
              <a:t>• Only mathematical model gradients are aggregated centrally.</a:t>
            </a:r>
            <a:br/>
            <a:br/>
            <a:r>
              <a:t>• Delivers +34.2% forecasting accuracy boost without sharing raw patient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संजीविनी (Sanjeevini) | National Health Resource &amp; Supply Chain Resilience Platform   • 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</a:defRPr>
            </a:pPr>
            <a:r>
              <a:t>REAL-TIME OPERATIONAL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National Command Center &amp; High-Precision CARTO GIS Surveillance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700">
                <a:solidFill>
                  <a:srgbClr val="0F172A"/>
                </a:solidFill>
              </a:defRPr>
            </a:pPr>
            <a:r>
              <a:t>Macroscopic Visibility with Micro-Targeting</a:t>
            </a:r>
          </a:p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</a:defRPr>
            </a:pPr>
            <a:r>
              <a:t>• Live Monitoring Across 31,000+ PHCs: National command dashboard aggregates medicine inventories, active emergency beds, and doctor attendance continuously.</a:t>
            </a:r>
            <a:br/>
            <a:br/>
            <a:r>
              <a:t>• Epidemic Heat Surveillance: Real-time geofenced cluster zones alert commanders to monsoon waterborne surges (e.g. Cachar flood zone) and vector outbreaks (e.g. Pune dengue surge).</a:t>
            </a:r>
            <a:br/>
            <a:br/>
            <a:r>
              <a:t>• Multi-Tier Governance: Seamless switching between MoHFW National Super-Admin, State Health Directorates, District Health Officers (DHOs), and Ground PHCs.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Layer Support: CARTO Positron (High-Legibility Light Mode), CARTO Voyager, CARTO Dark Matter, OpenStreetMap, and Google Maps.</a:t>
            </a:r>
          </a:p>
        </p:txBody>
      </p:sp>
      <p:pic>
        <p:nvPicPr>
          <p:cNvPr id="4" name="Picture 3" descr="national_com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6309360" cy="3549015"/>
          </a:xfrm>
          <a:prstGeom prst="rect">
            <a:avLst/>
          </a:prstGeom>
        </p:spPr>
      </p:pic>
      <p:pic>
        <p:nvPicPr>
          <p:cNvPr id="5" name="Picture 4" descr="liv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840480"/>
            <a:ext cx="6309360" cy="35490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संजीविनी (Sanjeevini) | National Health Resource &amp; Supply Chain Resilience Platform   • 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</a:defRPr>
            </a:pPr>
            <a:r>
              <a:t>VOICE-FIRST &amp; VISUAL INGESTION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Frontline Cadre AI: 22 Indic Languages &amp; Multimodal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700">
                <a:solidFill>
                  <a:srgbClr val="0F172A"/>
                </a:solidFill>
              </a:defRPr>
            </a:pPr>
            <a:r>
              <a:t>Zero-Typing Field Technology for ASHA &amp; ANMs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All 22 Official Scheduled Indian Languages + English: Full vernacular coverage spanning Hindi, Bengali, Telugu, Marathi, Tamil, Urdu, Gujarati, Kannada, Malayalam, Odia, Punjabi, Assamese, Maithili, Santhali, Kashmiri, Nepali, Konkani, Sindhi, Dogri, Manipuri, Bodo, Sanskrit, and English.</a:t>
            </a:r>
            <a:br/>
            <a:br/>
            <a:r>
              <a:t>• Automated Entity Extraction: Frontline cadres speak natural conversational updates; Gemini extracts drug name, count, unit, and clinical urgency flags automatically.</a:t>
            </a:r>
            <a:br/>
            <a:br/>
            <a:r>
              <a:t>• Gemini Vision Multimodal Scanner: Instantly verifies physical medicine packages, batch barcodes, and handwritten stock ledgers with automated confidence scoring.</a:t>
            </a:r>
          </a:p>
        </p:txBody>
      </p:sp>
      <p:pic>
        <p:nvPicPr>
          <p:cNvPr id="4" name="Picture 3" descr="voice_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26480" cy="3446145"/>
          </a:xfrm>
          <a:prstGeom prst="rect">
            <a:avLst/>
          </a:prstGeom>
        </p:spPr>
      </p:pic>
      <p:pic>
        <p:nvPicPr>
          <p:cNvPr id="5" name="Picture 4" descr="multimodal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931920"/>
            <a:ext cx="6126480" cy="34461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संजीविनी (Sanjeevini) | National Health Resource &amp; Supply Chain Resilience Platform   • 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</a:defRPr>
            </a:pPr>
            <a:r>
              <a:t>PREDICTIVE SURGE REDISTRIBUTION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Automated Cross-District Inventory Balancing &amp; 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700">
                <a:solidFill>
                  <a:srgbClr val="0F172A"/>
                </a:solidFill>
              </a:defRPr>
            </a:pPr>
            <a:r>
              <a:t>Eliminating Artificial Scarcity with Smart Routing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Predictive Surge Lead-Time: ML forecasting detects impending stockouts 7 days in advance, activating transfers long before supplies hit zero.</a:t>
            </a:r>
            <a:br/>
            <a:br/>
            <a:r>
              <a:t>• Surplus-to-Deficit Optimization: Identifies donor facilities with &gt;14 days excess buffer and matches them to clinics with ≤3 days critical stock.</a:t>
            </a:r>
            <a:br/>
            <a:br/>
            <a:r>
              <a:t>• Transit &amp; Cold-Chain Safeguards: Factors in road travel time, distance decay, and vaccine/oxytocin temperature sensitivity.</a:t>
            </a:r>
            <a:br/>
            <a:br/>
            <a:r>
              <a:t>• One-Click Transfer Authorizations: Generates digital dispatch manifests, driver route coordinates, and receipt confirmations with full audit trails.</a:t>
            </a:r>
          </a:p>
        </p:txBody>
      </p:sp>
      <p:pic>
        <p:nvPicPr>
          <p:cNvPr id="4" name="Picture 3" descr="log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26480" cy="34461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संजीविनी (Sanjeevini) | National Health Resource &amp; Supply Chain Resilience Platform   • 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</a:defRPr>
            </a:pPr>
            <a:r>
              <a:t>FEDERATED LEARNING &amp; DPDP COMPLIANCE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State Data Sovereignty via Federated Model 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700">
                <a:solidFill>
                  <a:srgbClr val="0F172A"/>
                </a:solidFill>
              </a:defRPr>
            </a:pPr>
            <a:r>
              <a:t>Shared Predictive Power Without Centralizing Data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100% DPDP Act 2023 Compliance: Sensitive patient health records and facility telemetry remain strictly inside state jurisdictional firewalls.</a:t>
            </a:r>
            <a:br/>
            <a:br/>
            <a:r>
              <a:t>• Local Model Training: State nodes (Maharashtra, Assam, Uttar Pradesh, Tamil Nadu) train localized forecasting models on regional seasonality and disease history.</a:t>
            </a:r>
            <a:br/>
            <a:br/>
            <a:r>
              <a:t>• FedAvg Gradient Exchange: Only mathematical model weights are sent to the Central Sanjeevini Server for federated aggregation.</a:t>
            </a:r>
            <a:br/>
            <a:br/>
            <a:r>
              <a:t>• 34.2% Higher Forecasting Accuracy: Small rural states benefit from national epidemiological intelligence without surrendering citizen data.</a:t>
            </a:r>
          </a:p>
        </p:txBody>
      </p:sp>
      <p:pic>
        <p:nvPicPr>
          <p:cNvPr id="4" name="Picture 3" descr="fed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26480" cy="34461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संजीविनी (Sanjeevini) | National Health Resource &amp; Supply Chain Resilience Platform   • 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</a:defRPr>
            </a:pPr>
            <a:r>
              <a:t>EXTREME ENVIRONMENT RESILIENCE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Frontline Mobile Simulator: Offline Queue &amp; Sync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700">
                <a:solidFill>
                  <a:srgbClr val="0F172A"/>
                </a:solidFill>
              </a:defRPr>
            </a:pPr>
            <a:r>
              <a:t>Engineered for Connectivity-Deprived Rural &amp; Tribal Belts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Offline-First Architecture: In remote villages and disaster flood zones with zero cellular connectivity, health workers can log inventory adjustments, voice notes, and SOS emergencies.</a:t>
            </a:r>
            <a:br/>
            <a:br/>
            <a:r>
              <a:t>• Local Transaction Queue: Data is committed safely to local offline storage with cryptographic timestamps.</a:t>
            </a:r>
            <a:br/>
            <a:br/>
            <a:r>
              <a:t>• Automatic Cloud Synchronization: As soon as a 2G/3G/4G signal is detected, all queued updates seamlessly synchronize without data collision.</a:t>
            </a:r>
            <a:br/>
            <a:br/>
            <a:r>
              <a:t>• One-Touch Emergency SOS: Rapid distress trigger for critical anti-venom, oxygen, or maternal hemorrhage resuscitation.</a:t>
            </a:r>
          </a:p>
        </p:txBody>
      </p:sp>
      <p:pic>
        <p:nvPicPr>
          <p:cNvPr id="4" name="Picture 3" descr="app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126480" cy="34461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संजीविनी (Sanjeevini) | National Health Resource &amp; Supply Chain Resilience Platform   • 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</a:defRPr>
            </a:pPr>
            <a:r>
              <a:t>MEASURABLE PUBLIC HEALTH OUTCOMES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Transformative Impact: Performance Metrics &amp;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057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59669"/>
                </a:solidFill>
              </a:defRPr>
            </a:pPr>
            <a:r>
              <a:t>99.9% FASTER REPORTING</a:t>
            </a:r>
          </a:p>
          <a:p>
            <a:pPr>
              <a:spcAft>
                <a:spcPts val="600"/>
              </a:spcAft>
              <a:defRPr b="1" sz="1800">
                <a:solidFill>
                  <a:srgbClr val="0F172A"/>
                </a:solidFill>
              </a:defRPr>
            </a:pPr>
            <a:r>
              <a:t>24h Lag -&gt; 2.4 Seconds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Direct multimodal ingestion replaces physical ledgers, reducing national data visibility lag from 24 hours to sub-3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57800" cy="2057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60020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DC2626"/>
                </a:solidFill>
              </a:defRPr>
            </a:pPr>
            <a:r>
              <a:t>88.4% STOCKOUT REDUCTION</a:t>
            </a:r>
          </a:p>
          <a:p>
            <a:pPr>
              <a:spcAft>
                <a:spcPts val="600"/>
              </a:spcAft>
              <a:defRPr b="1" sz="1800">
                <a:solidFill>
                  <a:srgbClr val="0F172A"/>
                </a:solidFill>
              </a:defRPr>
            </a:pPr>
            <a:r>
              <a:t>7-Day Early Warnings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Proactive predictive surge modeling detects localized supply deficits 7 days ahead, enabling preventive transfers.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57800" cy="2057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199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E40AF"/>
                </a:solidFill>
              </a:defRPr>
            </a:pPr>
            <a:r>
              <a:t>95% SHORTER DISPATCH TAT</a:t>
            </a:r>
          </a:p>
          <a:p>
            <a:pPr>
              <a:spcAft>
                <a:spcPts val="600"/>
              </a:spcAft>
              <a:defRPr b="1" sz="1800">
                <a:solidFill>
                  <a:srgbClr val="0F172A"/>
                </a:solidFill>
              </a:defRPr>
            </a:pPr>
            <a:r>
              <a:t>5 Days -&gt; &lt; 4 Hours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Automated donor-to-recipient pairing compresses district transfer authorizations from nearly a week to a single shift.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749039"/>
            <a:ext cx="52578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886199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D97706"/>
                </a:solidFill>
              </a:defRPr>
            </a:pPr>
            <a:r>
              <a:t>2.5 HRS SAVED / DAY / WORKER</a:t>
            </a:r>
          </a:p>
          <a:p>
            <a:pPr>
              <a:spcAft>
                <a:spcPts val="600"/>
              </a:spcAft>
              <a:defRPr b="1" sz="1800">
                <a:solidFill>
                  <a:srgbClr val="0F172A"/>
                </a:solidFill>
              </a:defRPr>
            </a:pPr>
            <a:r>
              <a:t>Zero Manual Paperwork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Indic conversational voice logging eliminates daily paperwork burden for over 1 million ASHA and ANM healthcare workers.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संजीविनी (Sanjeevini) | National Health Resource &amp; Supply Chain Resilience Platform   • 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</a:defRPr>
            </a:pPr>
            <a:r>
              <a:t>ENTERPRISE SCALING &amp; ABDM INTEGRATION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National Scale Deployment Roadmap &amp; Long-Term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37560" cy="3657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000">
                <a:solidFill>
                  <a:srgbClr val="059669"/>
                </a:solidFill>
              </a:defRPr>
            </a:pPr>
            <a:r>
              <a:t>PHASE 1 (MONTHS 0-3)</a:t>
            </a:r>
          </a:p>
          <a:p>
            <a:pPr>
              <a:spcAft>
                <a:spcPts val="1000"/>
              </a:spcAft>
              <a:defRPr b="1" sz="1500">
                <a:solidFill>
                  <a:srgbClr val="0F172A"/>
                </a:solidFill>
              </a:defRPr>
            </a:pPr>
            <a:r>
              <a:t>High-Risk Pilot Deployment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Deploy across 5 flood &amp; epidemic prone districts (Assam, Bihar, Maharashtra).</a:t>
            </a:r>
            <a:br/>
            <a:br/>
            <a:r>
              <a:t>• Onboard 2,500 frontline ASHA/ANM workers with Indic voice assistant.</a:t>
            </a:r>
            <a:br/>
            <a:br/>
            <a:r>
              <a:t>• Benchmark stockout reductions during active monsoon flood season.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463040"/>
            <a:ext cx="3337560" cy="3657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3712" y="164592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000">
                <a:solidFill>
                  <a:srgbClr val="1E40AF"/>
                </a:solidFill>
              </a:defRPr>
            </a:pPr>
            <a:r>
              <a:t>PHASE 2 (MONTHS 3-9)</a:t>
            </a:r>
          </a:p>
          <a:p>
            <a:pPr>
              <a:spcAft>
                <a:spcPts val="1000"/>
              </a:spcAft>
              <a:defRPr b="1" sz="1500">
                <a:solidFill>
                  <a:srgbClr val="0F172A"/>
                </a:solidFill>
              </a:defRPr>
            </a:pPr>
            <a:r>
              <a:t>Statewide Cluster Federated Rollout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Expand to 4 regional state health directorates with active federated nodes.</a:t>
            </a:r>
            <a:br/>
            <a:br/>
            <a:r>
              <a:t>• Connect district cold-chain logistics hubs to the automated redistribution engine.</a:t>
            </a:r>
            <a:br/>
            <a:br/>
            <a:r>
              <a:t>• Integrate Ayushman Bharat Digital Mission (ABDM) facility registries.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463040"/>
            <a:ext cx="333756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3024" y="164592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000">
                <a:solidFill>
                  <a:srgbClr val="D97706"/>
                </a:solidFill>
              </a:defRPr>
            </a:pPr>
            <a:r>
              <a:t>PHASE 3 (MONTHS 9-18)</a:t>
            </a:r>
          </a:p>
          <a:p>
            <a:pPr>
              <a:spcAft>
                <a:spcPts val="1000"/>
              </a:spcAft>
              <a:defRPr b="1" sz="1500">
                <a:solidFill>
                  <a:srgbClr val="0F172A"/>
                </a:solidFill>
              </a:defRPr>
            </a:pPr>
            <a:r>
              <a:t>Pan-India National Integration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Full deployment across all 31,000+ PHCs and 150,000+ Sub-Centres.</a:t>
            </a:r>
            <a:br/>
            <a:br/>
            <a:r>
              <a:t>• Universal sovereign federated predictive intelligence.</a:t>
            </a:r>
            <a:br/>
            <a:br/>
            <a:r>
              <a:t>• Real-time national resilience safeguarding all 1.4 billion citizens.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49240"/>
            <a:ext cx="10728655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059669"/>
                </a:solidFill>
              </a:defRPr>
            </a:pPr>
            <a:r>
              <a:t>THE SANJEEVINI NATIONAL VISION:</a:t>
            </a:r>
          </a:p>
          <a:p>
            <a:pPr>
              <a:defRPr b="1" sz="1400">
                <a:solidFill>
                  <a:srgbClr val="0F172A"/>
                </a:solidFill>
              </a:defRPr>
            </a:pPr>
            <a:r>
              <a:t>“No Indian citizen should ever lose their life due to a preventable shortage of essential life-saving medicine.”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संजीविनी (Sanjeevini) | National Health Resource &amp; Supply Chain Resilience Platform   • 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