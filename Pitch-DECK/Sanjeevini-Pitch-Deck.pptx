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59669"/>
                </a:solidFill>
              </a:defRPr>
            </a:pPr>
            <a:r>
              <a:t>SMART HEALTH &amp; SUPPLY CHAIN RESILIENCE  •  THEME: RESILIENCE</a:t>
            </a:r>
          </a:p>
          <a:p>
            <a:pPr>
              <a:spcAft>
                <a:spcPts val="800"/>
              </a:spcAft>
              <a:defRPr sz="4400" b="1">
                <a:solidFill>
                  <a:srgbClr val="0F172A"/>
                </a:solidFill>
              </a:defRPr>
            </a:pPr>
            <a:r>
              <a:t>Sanjeevini</a:t>
            </a:r>
          </a:p>
          <a:p>
            <a:pPr>
              <a:spcAft>
                <a:spcPts val="2200"/>
              </a:spcAft>
              <a:defRPr sz="2000" b="1">
                <a:solidFill>
                  <a:srgbClr val="1E40AF"/>
                </a:solidFill>
              </a:defRPr>
            </a:pPr>
            <a:r>
              <a:t>Federated AI Platform for National Health Resource &amp; Medicine Supply Chain Management</a:t>
            </a:r>
          </a:p>
          <a:p>
            <a:pPr>
              <a:spcAft>
                <a:spcPts val="3600"/>
              </a:spcAft>
              <a:defRPr sz="1300">
                <a:solidFill>
                  <a:srgbClr val="0F172A"/>
                </a:solidFill>
              </a:defRPr>
            </a:pPr>
            <a:r>
              <a:t>Real-time visibility across 31,000+ PHCs • Predictive early warnings for emergency stock-outs • Automated cross-district redistribution • Privacy-preserving federated intelligence across India's states</a:t>
            </a:r>
          </a:p>
          <a:p>
            <a:pPr>
              <a:spcAft>
                <a:spcPts val="800"/>
              </a:spcAft>
              <a:defRPr sz="1000" b="1">
                <a:solidFill>
                  <a:srgbClr val="64748B"/>
                </a:solidFill>
              </a:defRPr>
            </a:pPr>
            <a:r>
              <a:t>ARCHITECTURE &amp; GOOGLE AI INTEGRATIONS: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• Google Cloud Run Scalable Ingestion  |  • Gemini 1.5 Flash Reasoning Engine  |  • GIS Engines  |  • Indic Voice AI (22 Indian Languages)  |  • Sovereign FedAvg Model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THE CHALLENGE &amp; PUBLIC HEALTH CRISIS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Healthcare Supply Chain Emergency Across India's PHCs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3756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DC2626"/>
                </a:solidFill>
              </a:defRPr>
            </a:pPr>
            <a:r>
              <a:t>42% RECURRENT DEFICITS</a:t>
            </a:r>
          </a:p>
          <a:p>
            <a:pPr>
              <a:spcAft>
                <a:spcPts val="800"/>
              </a:spcAft>
              <a:defRPr b="1" sz="1500">
                <a:solidFill>
                  <a:srgbClr val="0F172A"/>
                </a:solidFill>
              </a:defRPr>
            </a:pPr>
            <a:r>
              <a:t>Chronic Medicine Stock-Outs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Zero Automated Surge Warnings: Essential emergency drugs (Paracetamol, ORS, Anti-Snake Venom, Oxytocin) run out during acute outbreaks.</a:t>
            </a:r>
            <a:br/>
            <a:r>
              <a:t>• The Proximity Paradox: Excess inventory expires in central district warehouses just 40km away while rural sub-centres turn away critical patients.</a:t>
            </a:r>
          </a:p>
        </p:txBody>
      </p:sp>
      <p:pic>
        <p:nvPicPr>
          <p:cNvPr id="5" name="Picture 4" descr="p2_col1_st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14800"/>
            <a:ext cx="2971800" cy="106276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34840" y="1371600"/>
            <a:ext cx="333756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50876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D97706"/>
                </a:solidFill>
              </a:defRPr>
            </a:pPr>
            <a:r>
              <a:t>12 - 24 HOUR REPORTING LAG</a:t>
            </a:r>
          </a:p>
          <a:p>
            <a:pPr>
              <a:spcAft>
                <a:spcPts val="800"/>
              </a:spcAft>
              <a:defRPr b="1" sz="1500">
                <a:solidFill>
                  <a:srgbClr val="0F172A"/>
                </a:solidFill>
              </a:defRPr>
            </a:pPr>
            <a:r>
              <a:t>Manual Ledgers &amp; Data Invisibility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Frontline Cadre Burden: Over 1,000,000 ASHA and ANM healthcare workers lose 2 to 3 hours daily manually compiling paper ledgers.</a:t>
            </a:r>
            <a:br/>
            <a:r>
              <a:t>• Latency Blindspots: Batch databases update once every 24 hours. Critical outbreak signals remain hidden until stockpiles are completely exhausted.</a:t>
            </a:r>
          </a:p>
        </p:txBody>
      </p:sp>
      <p:pic>
        <p:nvPicPr>
          <p:cNvPr id="8" name="Picture 7" descr="p2_col2_led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114800"/>
            <a:ext cx="2971800" cy="12451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38160" y="1371600"/>
            <a:ext cx="333756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508760"/>
            <a:ext cx="2971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1E40AF"/>
                </a:solidFill>
              </a:defRPr>
            </a:pPr>
            <a:r>
              <a:t>DATA SOVEREIGNTY BARRIERS</a:t>
            </a:r>
          </a:p>
          <a:p>
            <a:pPr>
              <a:spcAft>
                <a:spcPts val="800"/>
              </a:spcAft>
              <a:defRPr b="1" sz="1500">
                <a:solidFill>
                  <a:srgbClr val="0F172A"/>
                </a:solidFill>
              </a:defRPr>
            </a:pPr>
            <a:r>
              <a:t>Interstate Data Silos &amp; DPDP Friction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Under India's DPDP Act 2023, patient health records cannot be moved into a monolithic central repository.</a:t>
            </a:r>
            <a:br/>
            <a:r>
              <a:t>• Isolated Prediction Models: States cannot share local epidemiological trends or coordinate cross-border emergency replenishment without severe privacy risks.</a:t>
            </a:r>
          </a:p>
        </p:txBody>
      </p:sp>
      <p:pic>
        <p:nvPicPr>
          <p:cNvPr id="11" name="Picture 10" descr="p2_col3_sil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4114800"/>
            <a:ext cx="2971800" cy="8925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HOLISTIC PLATFORM STRATEGY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Sanjeevini Ecosystem: 4 Pillars of National Resilience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46634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059669"/>
                </a:solidFill>
              </a:defRPr>
            </a:pPr>
            <a:r>
              <a:t>PILLAR 1</a:t>
            </a:r>
          </a:p>
          <a:p>
            <a:pPr>
              <a:spcAft>
                <a:spcPts val="600"/>
              </a:spcAft>
              <a:defRPr b="1" sz="1400">
                <a:solidFill>
                  <a:srgbClr val="0F172A"/>
                </a:solidFill>
              </a:defRPr>
            </a:pPr>
            <a:r>
              <a:t>Ground Capture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Indic Voice AI (22 languages)</a:t>
            </a:r>
            <a:br/>
            <a:r>
              <a:t>• Gemini Vision OCR for ledgers</a:t>
            </a:r>
            <a:br/>
            <a:r>
              <a:t>• Zero-paperwork field entry.</a:t>
            </a:r>
          </a:p>
        </p:txBody>
      </p:sp>
      <p:pic>
        <p:nvPicPr>
          <p:cNvPr id="5" name="Picture 4" descr="p3_col1_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931920"/>
            <a:ext cx="2194560" cy="10096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456432" y="1371600"/>
            <a:ext cx="2468880" cy="46634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50876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E40AF"/>
                </a:solidFill>
              </a:defRPr>
            </a:pPr>
            <a:r>
              <a:t>PILLAR 2</a:t>
            </a:r>
          </a:p>
          <a:p>
            <a:pPr>
              <a:spcAft>
                <a:spcPts val="600"/>
              </a:spcAft>
              <a:defRPr b="1" sz="1400">
                <a:solidFill>
                  <a:srgbClr val="0F172A"/>
                </a:solidFill>
              </a:defRPr>
            </a:pPr>
            <a:r>
              <a:t>GIS Surveillance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Live 31,000+ PHC tracking</a:t>
            </a:r>
            <a:br/>
            <a:r>
              <a:t>• High-precision GIS mapping</a:t>
            </a:r>
            <a:br/>
            <a:r>
              <a:t>• Color-coded buffer thresholds.</a:t>
            </a:r>
          </a:p>
        </p:txBody>
      </p:sp>
      <p:pic>
        <p:nvPicPr>
          <p:cNvPr id="8" name="Picture 7" descr="p3_col2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3931920"/>
            <a:ext cx="2194560" cy="13163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81344" y="137160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50876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D97706"/>
                </a:solidFill>
              </a:defRPr>
            </a:pPr>
            <a:r>
              <a:t>PILLAR 3</a:t>
            </a:r>
          </a:p>
          <a:p>
            <a:pPr>
              <a:spcAft>
                <a:spcPts val="600"/>
              </a:spcAft>
              <a:defRPr b="1" sz="1400">
                <a:solidFill>
                  <a:srgbClr val="0F172A"/>
                </a:solidFill>
              </a:defRPr>
            </a:pPr>
            <a:r>
              <a:t>Predictive Logistics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7-Day surge early warnings</a:t>
            </a:r>
            <a:br/>
            <a:r>
              <a:t>• Automated surplus-deficit pairing</a:t>
            </a:r>
            <a:br/>
            <a:r>
              <a:t>• Turnkey transfer e-Challans.</a:t>
            </a:r>
          </a:p>
        </p:txBody>
      </p:sp>
      <p:pic>
        <p:nvPicPr>
          <p:cNvPr id="11" name="Picture 10" descr="p3_col3_logis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8504" y="3931920"/>
            <a:ext cx="2194560" cy="685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906256" y="137160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50876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00">
                <a:solidFill>
                  <a:srgbClr val="1E40AF"/>
                </a:solidFill>
              </a:defRPr>
            </a:pPr>
            <a:r>
              <a:t>PILLAR 4</a:t>
            </a:r>
          </a:p>
          <a:p>
            <a:pPr>
              <a:spcAft>
                <a:spcPts val="600"/>
              </a:spcAft>
              <a:defRPr b="1" sz="1400">
                <a:solidFill>
                  <a:srgbClr val="0F172A"/>
                </a:solidFill>
              </a:defRPr>
            </a:pPr>
            <a:r>
              <a:t>Sovereign Federated AI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Local state training in-place</a:t>
            </a:r>
            <a:br/>
            <a:r>
              <a:t>• FedAvg weight aggregation</a:t>
            </a:r>
            <a:br/>
            <a:r>
              <a:t>• +34.2% forecasting boost.</a:t>
            </a:r>
          </a:p>
        </p:txBody>
      </p:sp>
      <p:pic>
        <p:nvPicPr>
          <p:cNvPr id="14" name="Picture 13" descr="p3_col4_federa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3416" y="3931920"/>
            <a:ext cx="2194560" cy="685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5-TIER CLOUD &amp; EDGE INFRASTRUCTURE (FROM README)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Architecture: End-to-End Enterprise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10728655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1. CLIENTS &amp; FRONTLINE CADRES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ASHA / ANM Mobile PWA &amp; Voice  •  PHC Medical Officer Ground Console  •  District Health Officer Hub  •  National MoHFW Command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728655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1E40AF"/>
                </a:solidFill>
              </a:defRPr>
            </a:pPr>
            <a:r>
              <a:t>2. PRESENTATION &amp; GIS LAYER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React 18 TypeScript Vite SPA  •  Leaflet &amp; Dual GIS Heatmap Engine  •  22-Language Audio Processor  •  Camera / OCR Canvas Extractor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10728655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F172A"/>
                </a:solidFill>
              </a:defRPr>
            </a:pPr>
            <a:r>
              <a:t>3. CORE API &amp; BUSINESS LOGIC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FastAPI Core Services  •  Epidemiological Demand Engine  •  Cost-Distance-Expiry Matching  •  FedAvg Multi-State Coordinator  •  Gemini OCR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728655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4. AI &amp; GOOGLE CLOUD SUITE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Google Gemini 1.5 Flash  •  Vertex AI Time-Series Forecaster  •  Cloud Speech-to-Text &amp; TTS  •  Google Translation  •  BigQuery (HMIS/IDSP Bridge)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728655" cy="8229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D97706"/>
                </a:solidFill>
              </a:defRPr>
            </a:pPr>
            <a:r>
              <a:t>5. STORAGE, QUEUE &amp; SECURITY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SQLite (Local/Edge Dev)  •  Cloud SQL PostgreSQL (Production)  •  Offline SQLite Transaction Queue  •  Redis Queue &amp; Rate Limiter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ENTERPRISE BLOCK DIAGRAM &amp; DATA TELEMETRY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 Flow: End-to-End Pipeline &amp; Integrations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603504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85216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949440" y="1280160"/>
            <a:ext cx="4510735" cy="153619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1353312"/>
            <a:ext cx="41449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1E40AF"/>
                </a:solidFill>
              </a:defRPr>
            </a:pPr>
            <a:r>
              <a:t>1. FRONTLINE INGESTION &amp; CLIENT TIER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ASHA / ANM Cadre: Voice memos streamed in 22 Indic dialects via Web Speech &amp; Indic Audio Processor -&gt; Google Cloud STT &amp; Translation.</a:t>
            </a:r>
            <a:br/>
            <a:r>
              <a:t>• PHC Dispensaries: Physical register ledgers digitized locally via Camera OCR component -&gt; Gemini 1.5 Flash Vision.</a:t>
            </a:r>
            <a:br/>
            <a:r>
              <a:t>• Executive Deck: One-click e-Challan approvals by DHOs and real-time MoHFW national resilience monitoring.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999232"/>
            <a:ext cx="4510735" cy="1536192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3072384"/>
            <a:ext cx="41449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2. CORE API &amp; ORCHESTRATION ENGINE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FastAPI 0.111 Service: Central asynchronous gateway handling request validation, queue routing, and telemetry dispatch.</a:t>
            </a:r>
            <a:br/>
            <a:r>
              <a:t>• Vertex AI Demand Engine: Epidemiological time-series forecasting detecting surge patterns 14 days before stockouts.</a:t>
            </a:r>
            <a:br/>
            <a:r>
              <a:t>• FedAvg Aggregator: Sovereign federated weight aggregation ensuring zero raw patient data crosses state borders.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718304"/>
            <a:ext cx="4510735" cy="153619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4791456"/>
            <a:ext cx="41449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F172A"/>
                </a:solidFill>
              </a:defRPr>
            </a:pPr>
            <a:r>
              <a:t>3. ENTERPRISE CLOUD &amp; RESILIENT STORAGE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Google Cloud Integrations: Gemini 1.5 Flash/Pro, Cloud Translation, and BigQuery bridge for HMIS &amp; IDSP disease surveillance.</a:t>
            </a:r>
            <a:br/>
            <a:r>
              <a:t>• Hybrid Persistence: Local edge SQLite for offline rural resilience paired with production Cloud SQL PostgreSQL cluster.</a:t>
            </a:r>
            <a:br/>
            <a:r>
              <a:t>• Redis Caching: Distributed queue and rate limiter guaranteeing zero packet loss during connectivity dropouts.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REAL-TIME OPERATIONAL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National Command Center &amp; High-Precision GIS Surveillance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700">
                <a:solidFill>
                  <a:srgbClr val="0F172A"/>
                </a:solidFill>
              </a:defRPr>
            </a:pPr>
            <a:r>
              <a:t>Macroscopic Visibility with Micro-Targeting</a:t>
            </a:r>
          </a:p>
          <a:p>
            <a:pPr>
              <a:spcAft>
                <a:spcPts val="1400"/>
              </a:spcAft>
              <a:defRPr sz="1100">
                <a:solidFill>
                  <a:srgbClr val="0F172A"/>
                </a:solidFill>
              </a:defRPr>
            </a:pPr>
            <a:r>
              <a:t>• Live Monitoring Across 31,000+ PHCs: National command dashboard aggregates medicine inventories, active emergency beds, and doctor attendance continuously.</a:t>
            </a:r>
            <a:br/>
            <a:br/>
            <a:r>
              <a:t>• Epidemic Heat Surveillance: Real-time geofenced cluster zones alert commanders to monsoon waterborne surges (e.g. Cachar flood zone) and vector outbreaks (e.g. Pune dengue surge).</a:t>
            </a:r>
            <a:br/>
            <a:br/>
            <a:r>
              <a:t>• Multi-Tier Governance: Seamless switching between MoHFW National Super-Admin, State Health Directorates, District Health Officers (DHOs), and Ground PHCs.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Layer Support: OpenStreetMap Standard, Google Maps Platform, and High-Performance GIS Layers.</a:t>
            </a:r>
          </a:p>
        </p:txBody>
      </p:sp>
      <p:pic>
        <p:nvPicPr>
          <p:cNvPr id="4" name="Picture 3" descr="national_com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6309360" cy="3549015"/>
          </a:xfrm>
          <a:prstGeom prst="rect">
            <a:avLst/>
          </a:prstGeom>
        </p:spPr>
      </p:pic>
      <p:pic>
        <p:nvPicPr>
          <p:cNvPr id="5" name="Picture 4" descr="liv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840480"/>
            <a:ext cx="6309360" cy="35490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VOICE-FIRST &amp; VISUAL INGESTION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Frontline Cadre AI: 22 Indic Languages &amp; Multimodal OCR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Zero-Typing Field Technology for ASHA &amp; ANMs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All 22 Official Scheduled Indian Languages + English: Full vernacular coverage spanning Hindi, Bengali, Telugu, Marathi, Tamil, Urdu, Gujarati, Kannada, Malayalam, Odia, Punjabi, Assamese, Maithili, Santhali, Kashmiri, Nepali, Konkani, Sindhi, Dogri, Manipuri, Bodo, Sanskrit, and English.</a:t>
            </a:r>
            <a:br/>
            <a:br/>
            <a:r>
              <a:t>• Automated Entity Extraction: Frontline cadres speak natural conversational updates; Gemini extracts drug name, count, unit, and clinical urgency flags automatically.</a:t>
            </a:r>
            <a:br/>
            <a:br/>
            <a:r>
              <a:t>• Gemini Vision Multimodal Scanner: Instantly verifies physical medicine packages, batch barcodes, and handwritten stock ledgers with automated confidence scoring.</a:t>
            </a:r>
          </a:p>
        </p:txBody>
      </p:sp>
      <p:pic>
        <p:nvPicPr>
          <p:cNvPr id="4" name="Picture 3" descr="voice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pic>
        <p:nvPicPr>
          <p:cNvPr id="5" name="Picture 4" descr="multimodal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3931920"/>
            <a:ext cx="6126480" cy="3446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PREDICTIVE SURGE REDISTRIBUTION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Automated Cross-District Inventory Balancing &amp;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Eliminating Artificial Scarcity with Smart Routing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Predictive Surge Lead-Time: ML forecasting detects impending stockouts 7 days in advance, activating transfers long before supplies hit zero.</a:t>
            </a:r>
            <a:br/>
            <a:br/>
            <a:r>
              <a:t>• Surplus-to-Deficit Optimization: Identifies donor facilities with &gt;14 days excess buffer and matches them to clinics with ≤3 days critical stock.</a:t>
            </a:r>
            <a:br/>
            <a:br/>
            <a:r>
              <a:t>• Transit &amp; Cold-Chain Safeguards: Factors in road travel time, distance decay, and vaccine/oxytocin temperature sensitivity.</a:t>
            </a:r>
            <a:br/>
            <a:br/>
            <a:r>
              <a:t>• One-Click Transfer Authorizations: Generates digital dispatch manifests, driver route coordinates, and receipt confirmations with full audit trails.</a:t>
            </a:r>
          </a:p>
        </p:txBody>
      </p:sp>
      <p:pic>
        <p:nvPicPr>
          <p:cNvPr id="4" name="Picture 3" descr="log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FEDERATED LEARNING &amp; DPDP COMPLIANCE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State Data Sovereignty via Federated Model Aggregation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Shared Predictive Power Without Centralizing Data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100% DPDP Act 2023 Compliance: Sensitive patient health records and facility telemetry remain strictly inside state jurisdictional firewalls.</a:t>
            </a:r>
            <a:br/>
            <a:br/>
            <a:r>
              <a:t>• Local Model Training: State nodes (Maharashtra, Assam, Uttar Pradesh, Tamil Nadu) train localized forecasting models on regional seasonality and disease history.</a:t>
            </a:r>
            <a:br/>
            <a:br/>
            <a:r>
              <a:t>• FedAvg Gradient Exchange: Only mathematical model weights are sent to the Central Sanjeevini Server for federated aggregation.</a:t>
            </a:r>
            <a:br/>
            <a:br/>
            <a:r>
              <a:t>• 34.2% Higher Forecasting Accuracy: Small rural states benefit from national epidemiological intelligence without surrendering citizen data.</a:t>
            </a:r>
          </a:p>
        </p:txBody>
      </p:sp>
      <p:pic>
        <p:nvPicPr>
          <p:cNvPr id="4" name="Picture 3" descr="fed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EXTREME ENVIRONMENT RESILIENCE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Frontline Mobile Simulator: Offline Queue &amp; Multi-Channel 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Engineered for Connectivity-Deprived Rural &amp; Tribal Belts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Offline-First Architecture: In remote villages and disaster flood zones with zero cellular connectivity, health workers can log inventory adjustments, voice notes, and SOS emergencies.</a:t>
            </a:r>
            <a:br/>
            <a:br/>
            <a:r>
              <a:t>• Local SQLite Transaction Queue: Data is committed safely to local offline storage with cryptographic timestamps.</a:t>
            </a:r>
            <a:br/>
            <a:br/>
            <a:r>
              <a:t>• Multi-Channel Support (SMS / WhatsApp / Telegram): Full emergency fallback allowing frontline health workers to report stockouts and receive SOS transfer confirmations via lightweight SMS, WhatsApp bots, and Telegram channels even without high-speed data.</a:t>
            </a:r>
            <a:br/>
            <a:br/>
            <a:r>
              <a:t>• One-Touch Emergency SOS: Rapid priority distress trigger for Anti-Snake Venom, blood units, or maternal hemorrhage resuscitation.</a:t>
            </a:r>
          </a:p>
        </p:txBody>
      </p:sp>
      <p:pic>
        <p:nvPicPr>
          <p:cNvPr id="4" name="Picture 3" descr="app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MEASURABLE OUTCOMES &amp; SCALING ROADMAP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Transformative Impact Benchmarks &amp; National Deployment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1097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059669"/>
                </a:solidFill>
              </a:defRPr>
            </a:pPr>
            <a:r>
              <a:t>99.9% FASTER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24h Lag -&gt; 2.4s Ingestion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371600"/>
            <a:ext cx="2468880" cy="10972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93592" y="141732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DC2626"/>
                </a:solidFill>
              </a:defRPr>
            </a:pPr>
            <a:r>
              <a:t>88.4% STOCKOUT REDUCTION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7-Day Early Warnings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468880" cy="1097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41732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1E40AF"/>
                </a:solidFill>
              </a:defRPr>
            </a:pPr>
            <a:r>
              <a:t>95% SHORTER DISPATCH TAT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5 Days -&gt; &lt; 4 Hours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371600"/>
            <a:ext cx="2468880" cy="10972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43416" y="141732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D97706"/>
                </a:solidFill>
              </a:defRPr>
            </a:pPr>
            <a:r>
              <a:t>2.5 HRS SAVED / DAY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Zero Manual Paperwork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333756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900">
                <a:solidFill>
                  <a:srgbClr val="059669"/>
                </a:solidFill>
              </a:defRPr>
            </a:pPr>
            <a:r>
              <a:t>PHASE 1 (MONTHS 0-3)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High-Risk Pilot Deployment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Deploy across 5 flood &amp; epidemic prone districts.</a:t>
            </a:r>
            <a:br/>
            <a:r>
              <a:t>• Onboard 2,500 ASHA/ANM workers with Indic voice.</a:t>
            </a:r>
            <a:br/>
            <a:r>
              <a:t>• Benchmark stockout reductions during monsoon.</a:t>
            </a:r>
          </a:p>
        </p:txBody>
      </p:sp>
      <p:pic>
        <p:nvPicPr>
          <p:cNvPr id="13" name="Picture 12" descr="p11_ph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114800"/>
            <a:ext cx="3063240" cy="297623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370832" y="2606040"/>
            <a:ext cx="333756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26974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900">
                <a:solidFill>
                  <a:srgbClr val="1E40AF"/>
                </a:solidFill>
              </a:defRPr>
            </a:pPr>
            <a:r>
              <a:t>PHASE 2 (MONTHS 3-9)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Statewide Cluster Rollout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Expand to 4 regional state health directorates.</a:t>
            </a:r>
            <a:br/>
            <a:r>
              <a:t>• Connect district cold-chain logistics hubs.</a:t>
            </a:r>
            <a:br/>
            <a:r>
              <a:t>• Integrate Ayushman Bharat (ABDM) registries.</a:t>
            </a:r>
          </a:p>
        </p:txBody>
      </p:sp>
      <p:pic>
        <p:nvPicPr>
          <p:cNvPr id="16" name="Picture 15" descr="p11_phas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4114800"/>
            <a:ext cx="3063240" cy="82430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10144" y="2606040"/>
            <a:ext cx="3337560" cy="2651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269748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900">
                <a:solidFill>
                  <a:srgbClr val="D97706"/>
                </a:solidFill>
              </a:defRPr>
            </a:pPr>
            <a:r>
              <a:t>PHASE 3 (MONTHS 9-18)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Pan-India Integration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Full deployment across all 31,000+ PHCs.</a:t>
            </a:r>
            <a:br/>
            <a:r>
              <a:t>• Universal sovereign federated predictive AI.</a:t>
            </a:r>
            <a:br/>
            <a:r>
              <a:t>• Real-time national resilience for 1.4B citizens.</a:t>
            </a:r>
          </a:p>
        </p:txBody>
      </p:sp>
      <p:pic>
        <p:nvPicPr>
          <p:cNvPr id="19" name="Picture 18" descr="p11_phas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4114800"/>
            <a:ext cx="3063240" cy="86153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31520" y="5440680"/>
            <a:ext cx="10728655" cy="868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04688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950">
                <a:solidFill>
                  <a:srgbClr val="059669"/>
                </a:solidFill>
              </a:defRPr>
            </a:pPr>
            <a:r>
              <a:t>THE SANJEEVINI NATIONAL COMMITMENT: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“No Indian citizen should ever lose their life due to a preventable shortage of essential life-saving medicine.”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